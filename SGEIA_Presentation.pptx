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737360"/>
            <a:ext cx="9144000" cy="54864"/>
          </a:xfrm>
          <a:prstGeom prst="rect">
            <a:avLst/>
          </a:prstGeom>
          <a:solidFill>
            <a:srgbClr val="29ABE2"/>
          </a:solidFill>
          <a:ln w="12700">
            <a:solidFill>
              <a:srgbClr val="29ABE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8046720" cy="11430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6400" b="1" spc="8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SGEIA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548640" y="18745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9A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Grid Energy Intelligence Assistant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2542032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Tejeswari S K  |  Prodapt AFDE  |  May 2026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7777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Prodapt Advanced Full-Stack Data Engineering Capstone  •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Grid Operators Are Drowning in Data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206240" cy="171907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38912" y="932688"/>
            <a:ext cx="38587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Alerts Per Shift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38912" y="1325880"/>
            <a:ext cx="385876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see hundreds of system alerts per hour. Most are noise — but missing the real one can cause blackouts.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09160" y="822960"/>
            <a:ext cx="4206240" cy="171907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73752" y="932688"/>
            <a:ext cx="38587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to Diagnose One Incident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873752" y="1325880"/>
            <a:ext cx="385876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root cause means jumping across 5–6 separate tools, log files, and dashboards before getting an answer.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2743200"/>
            <a:ext cx="4206240" cy="171907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38912" y="2852928"/>
            <a:ext cx="38587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Unified Intelligence Layer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38912" y="3246120"/>
            <a:ext cx="385876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exists but is siloed. Stability data, meter readings, and incident logs are never seen together in one place.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09160" y="2743200"/>
            <a:ext cx="4206240" cy="1719072"/>
          </a:xfrm>
          <a:prstGeom prst="rect">
            <a:avLst/>
          </a:prstGeom>
          <a:solidFill>
            <a:srgbClr val="0E6655"/>
          </a:solidFill>
          <a:ln w="12700">
            <a:solidFill>
              <a:srgbClr val="0E66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73752" y="2852928"/>
            <a:ext cx="38587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Expertise Gap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73752" y="3246120"/>
            <a:ext cx="385876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operators lack years of experience to interpret complex grid physics signals quickly and correctly under pressure.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Solution: SGEIA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9A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in plain English. Get AI-powered answers in seconds.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274320" y="1371600"/>
            <a:ext cx="4206240" cy="1627632"/>
          </a:xfrm>
          <a:prstGeom prst="rect">
            <a:avLst/>
          </a:prstGeom>
          <a:solidFill>
            <a:srgbClr val="1A3A5C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371600"/>
            <a:ext cx="201168" cy="162763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48132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9A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Any Question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847088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'What is causing instability in Zone A?' and get a clear, grounded answer — no SQL needed.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1371600"/>
            <a:ext cx="4206240" cy="1627632"/>
          </a:xfrm>
          <a:prstGeom prst="rect">
            <a:avLst/>
          </a:prstGeom>
          <a:solidFill>
            <a:srgbClr val="1A3A5C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371600"/>
            <a:ext cx="201168" cy="162763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83480" y="148132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9A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Reads Both Datasets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83480" y="1847088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SGEIA combines supply-side stability data and demand-side meter data for a complete picture.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3154680"/>
            <a:ext cx="4206240" cy="1627632"/>
          </a:xfrm>
          <a:prstGeom prst="rect">
            <a:avLst/>
          </a:prstGeom>
          <a:solidFill>
            <a:srgbClr val="1A3A5C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3154680"/>
            <a:ext cx="201168" cy="162763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26440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9A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Explanations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3630168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tells you WHICH factor caused the problem and HOW confident it is — not just a raw number.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09160" y="3154680"/>
            <a:ext cx="4206240" cy="1627632"/>
          </a:xfrm>
          <a:prstGeom prst="rect">
            <a:avLst/>
          </a:prstGeom>
          <a:solidFill>
            <a:srgbClr val="1A3A5C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3154680"/>
            <a:ext cx="201168" cy="162763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83480" y="326440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9A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Safety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83480" y="3630168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inputs are screened. Harmful queries blocked. Sensitive data masked before anything reaches the AI.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Two Datasets? Supply + Demand = Complete Picture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3840480" cy="3429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886968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DS1 – Grid Stability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128016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9A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UCI Dataset  •  60,000 rows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627632"/>
            <a:ext cx="356616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SIDE data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node reaction to load/generation changes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Labels: stable vs. unstable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behind grid failures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us IF and WHY the grid may fail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0" y="777240"/>
            <a:ext cx="3840480" cy="34290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166360" y="886968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DS2 – Household Consumption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166360" y="128016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smart meter readings  •  2M+ rows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66360" y="1627632"/>
            <a:ext cx="356616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SIDE data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Minute-by-minute home electricity readings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Voltage, current, sub-metering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unusual consumption (anomalies)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us WHAT households are drawing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60520" y="201168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096512" y="2487168"/>
            <a:ext cx="9509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4320" y="4343400"/>
            <a:ext cx="8595360" cy="475488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434340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smart grid system needs BOTH — you cannot understand grid problems without knowing both generation stability AND consumption patterns.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DS1 Deep Dive – Smart Grid Stability Dataset (UCI)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274320" y="73152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60,000 rows  •  Grid simulation data  •  Target: Is this configuration stable?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078992"/>
            <a:ext cx="1463040" cy="6583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78992"/>
            <a:ext cx="1463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tau1 – tau4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737360" y="1078992"/>
            <a:ext cx="7132320" cy="658368"/>
          </a:xfrm>
          <a:prstGeom prst="rect">
            <a:avLst/>
          </a:prstGeom>
          <a:solidFill>
            <a:srgbClr val="E3F0FA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1152144"/>
            <a:ext cx="69037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fast each of the 4 nodes reacts when load changes. Low tau = slow reaction = higher risk of instability.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4320" y="1874520"/>
            <a:ext cx="1463040" cy="6583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1874520"/>
            <a:ext cx="1463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– p4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737360" y="1874520"/>
            <a:ext cx="71323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0" y="1947672"/>
            <a:ext cx="69037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produced or consumed at each node. Negative = consuming, Positive = generating. Balance matters.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74320" y="2670048"/>
            <a:ext cx="1463040" cy="6583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2670048"/>
            <a:ext cx="1463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 – g4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737360" y="2670048"/>
            <a:ext cx="7132320" cy="658368"/>
          </a:xfrm>
          <a:prstGeom prst="rect">
            <a:avLst/>
          </a:prstGeom>
          <a:solidFill>
            <a:srgbClr val="E3F0FA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28800" y="2743200"/>
            <a:ext cx="69037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sensitive each node is to electricity price signals. High g means the node adjusts fast when prices change.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274320" y="3465576"/>
            <a:ext cx="1463040" cy="6583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3465576"/>
            <a:ext cx="1463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stabf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737360" y="3465576"/>
            <a:ext cx="71323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28800" y="3538728"/>
            <a:ext cx="69037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label: STABLE or UNSTABLE. This is what XGBoost learns to predict from the other features.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274320" y="4261104"/>
            <a:ext cx="1463040" cy="6583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" y="4261104"/>
            <a:ext cx="1463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737360" y="4261104"/>
            <a:ext cx="7132320" cy="658368"/>
          </a:xfrm>
          <a:prstGeom prst="rect">
            <a:avLst/>
          </a:prstGeom>
          <a:solidFill>
            <a:srgbClr val="E3F0FA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28800" y="4334256"/>
            <a:ext cx="69037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continuous number — the actual stability margin. Negative = already unstable. Used for regression tasks.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DS2 Deep Dive – Household Power Consumption Dataset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274320" y="73152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2,000,000+ rows  •  Minute-by-minute real home meter readings  •  No pre-existing anomaly labels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078992"/>
            <a:ext cx="1828800" cy="65836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78992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Voltage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103120" y="1078992"/>
            <a:ext cx="6766560" cy="658368"/>
          </a:xfrm>
          <a:prstGeom prst="rect">
            <a:avLst/>
          </a:prstGeom>
          <a:solidFill>
            <a:srgbClr val="E3F0FA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94560" y="1152144"/>
            <a:ext cx="6537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in volts. Spikes or drops indicate supply problems or heavy load on the local line.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4320" y="1874520"/>
            <a:ext cx="1828800" cy="65836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187452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Intensity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103120" y="1874520"/>
            <a:ext cx="67665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94560" y="1947672"/>
            <a:ext cx="6537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in amps. High current = high consumption. Unusually high values flag potential faults.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74320" y="2670048"/>
            <a:ext cx="1828800" cy="65836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2670048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Active Power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103120" y="2670048"/>
            <a:ext cx="6766560" cy="658368"/>
          </a:xfrm>
          <a:prstGeom prst="rect">
            <a:avLst/>
          </a:prstGeom>
          <a:solidFill>
            <a:srgbClr val="E3F0FA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94560" y="2743200"/>
            <a:ext cx="6537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real power the home is drawing, in kilowatts. The main signal for overall energy use.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274320" y="3465576"/>
            <a:ext cx="1828800" cy="65836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3465576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Power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103120" y="3465576"/>
            <a:ext cx="67665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94560" y="3538728"/>
            <a:ext cx="6537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stored and released by inductive loads (motors, AC). Excess wastes grid capacity.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274320" y="4261104"/>
            <a:ext cx="1828800" cy="65836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" y="4261104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Sub-metering 1–3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103120" y="4261104"/>
            <a:ext cx="6766560" cy="658368"/>
          </a:xfrm>
          <a:prstGeom prst="rect">
            <a:avLst/>
          </a:prstGeom>
          <a:solidFill>
            <a:srgbClr val="E3F0FA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194560" y="4334256"/>
            <a:ext cx="6537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readings for kitchen, laundry, and HVAC. Pinpoints which appliance causes an anomaly.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Added New Columns – Making Data Operationally Useful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274320" y="73152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original datasets captured physics — but not operational context. We added columns to bridge that gap.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115568"/>
            <a:ext cx="1920240" cy="493776"/>
          </a:xfrm>
          <a:prstGeom prst="rect">
            <a:avLst/>
          </a:prstGeom>
          <a:solidFill>
            <a:srgbClr val="065A8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115568"/>
            <a:ext cx="1920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194560" y="1115568"/>
            <a:ext cx="658368" cy="493776"/>
          </a:xfrm>
          <a:prstGeom prst="rect">
            <a:avLst/>
          </a:prstGeom>
          <a:solidFill>
            <a:srgbClr val="D4E8F5"/>
          </a:solidFill>
          <a:ln w="6350">
            <a:solidFill>
              <a:srgbClr val="B0C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94560" y="1115568"/>
            <a:ext cx="65836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52928" y="1115568"/>
            <a:ext cx="6016752" cy="493776"/>
          </a:xfrm>
          <a:prstGeom prst="rect">
            <a:avLst/>
          </a:prstGeom>
          <a:solidFill>
            <a:srgbClr val="EAF4FB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152144"/>
            <a:ext cx="5760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time axis in original data. Timestamps enable trend analysis and time-based filtering.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74320" y="1677924"/>
            <a:ext cx="1920240" cy="493776"/>
          </a:xfrm>
          <a:prstGeom prst="rect">
            <a:avLst/>
          </a:prstGeom>
          <a:solidFill>
            <a:srgbClr val="1C729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677924"/>
            <a:ext cx="1920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(Zone A–D)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194560" y="1677924"/>
            <a:ext cx="658368" cy="493776"/>
          </a:xfrm>
          <a:prstGeom prst="rect">
            <a:avLst/>
          </a:prstGeom>
          <a:solidFill>
            <a:srgbClr val="D4E8F5"/>
          </a:solidFill>
          <a:ln w="6350">
            <a:solidFill>
              <a:srgbClr val="B0CCD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94560" y="1677924"/>
            <a:ext cx="65836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852928" y="1677924"/>
            <a:ext cx="6016752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44368" y="1714500"/>
            <a:ext cx="5760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location context. Zone labels allow RAG to answer 'What happened in Zone A?'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74320" y="2240280"/>
            <a:ext cx="1920240" cy="493776"/>
          </a:xfrm>
          <a:prstGeom prst="rect">
            <a:avLst/>
          </a:prstGeom>
          <a:solidFill>
            <a:srgbClr val="065A8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2240280"/>
            <a:ext cx="1920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equipment_type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194560" y="2240280"/>
            <a:ext cx="658368" cy="493776"/>
          </a:xfrm>
          <a:prstGeom prst="rect">
            <a:avLst/>
          </a:prstGeom>
          <a:solidFill>
            <a:srgbClr val="D4E8F5"/>
          </a:solidFill>
          <a:ln w="6350">
            <a:solidFill>
              <a:srgbClr val="B0CCD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94560" y="2240280"/>
            <a:ext cx="65836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852928" y="2240280"/>
            <a:ext cx="6016752" cy="493776"/>
          </a:xfrm>
          <a:prstGeom prst="rect">
            <a:avLst/>
          </a:prstGeom>
          <a:solidFill>
            <a:srgbClr val="EAF4FB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44368" y="2276856"/>
            <a:ext cx="5760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not tell which transformer generated a reading. Equipment tags enable root-cause analysis.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274320" y="2802636"/>
            <a:ext cx="1920240" cy="493776"/>
          </a:xfrm>
          <a:prstGeom prst="rect">
            <a:avLst/>
          </a:prstGeom>
          <a:solidFill>
            <a:srgbClr val="1C729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2802636"/>
            <a:ext cx="1920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transformer_status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194560" y="2802636"/>
            <a:ext cx="658368" cy="493776"/>
          </a:xfrm>
          <a:prstGeom prst="rect">
            <a:avLst/>
          </a:prstGeom>
          <a:solidFill>
            <a:srgbClr val="D4E8F5"/>
          </a:solidFill>
          <a:ln w="6350">
            <a:solidFill>
              <a:srgbClr val="B0CCD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194560" y="2802636"/>
            <a:ext cx="65836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852928" y="2802636"/>
            <a:ext cx="6016752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944368" y="2839212"/>
            <a:ext cx="5760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events are meaningless without knowing if the transformer was online, degraded, or offline.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274320" y="3364992"/>
            <a:ext cx="1920240" cy="493776"/>
          </a:xfrm>
          <a:prstGeom prst="rect">
            <a:avLst/>
          </a:prstGeom>
          <a:solidFill>
            <a:srgbClr val="065A8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" y="3364992"/>
            <a:ext cx="1920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outage_event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194560" y="3364992"/>
            <a:ext cx="658368" cy="493776"/>
          </a:xfrm>
          <a:prstGeom prst="rect">
            <a:avLst/>
          </a:prstGeom>
          <a:solidFill>
            <a:srgbClr val="D4E8F5"/>
          </a:solidFill>
          <a:ln w="6350">
            <a:solidFill>
              <a:srgbClr val="B0CCD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194560" y="3364992"/>
            <a:ext cx="65836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52928" y="3364992"/>
            <a:ext cx="6016752" cy="493776"/>
          </a:xfrm>
          <a:prstGeom prst="rect">
            <a:avLst/>
          </a:prstGeom>
          <a:solidFill>
            <a:srgbClr val="EAF4FB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944368" y="3401568"/>
            <a:ext cx="5760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flag for whether an outage occurred — used as a label for filtering incidents.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274320" y="3927348"/>
            <a:ext cx="1920240" cy="493776"/>
          </a:xfrm>
          <a:prstGeom prst="rect">
            <a:avLst/>
          </a:prstGeom>
          <a:solidFill>
            <a:srgbClr val="1C729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4320" y="3927348"/>
            <a:ext cx="1920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grid_frequency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2194560" y="3927348"/>
            <a:ext cx="658368" cy="493776"/>
          </a:xfrm>
          <a:prstGeom prst="rect">
            <a:avLst/>
          </a:prstGeom>
          <a:solidFill>
            <a:srgbClr val="D4E8F5"/>
          </a:solidFill>
          <a:ln w="6350">
            <a:solidFill>
              <a:srgbClr val="B0CCD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94560" y="3927348"/>
            <a:ext cx="65836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852928" y="3927348"/>
            <a:ext cx="6016752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44368" y="3963924"/>
            <a:ext cx="5760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 data had no grid-level link. Added to correlate consumption spikes with frequency deviations.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274320" y="4489704"/>
            <a:ext cx="1920240" cy="493776"/>
          </a:xfrm>
          <a:prstGeom prst="rect">
            <a:avLst/>
          </a:prstGeom>
          <a:solidFill>
            <a:srgbClr val="065A8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4320" y="4489704"/>
            <a:ext cx="1920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demand_load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2194560" y="4489704"/>
            <a:ext cx="658368" cy="493776"/>
          </a:xfrm>
          <a:prstGeom prst="rect">
            <a:avLst/>
          </a:prstGeom>
          <a:solidFill>
            <a:srgbClr val="D4E8F5"/>
          </a:solidFill>
          <a:ln w="6350">
            <a:solidFill>
              <a:srgbClr val="B0CCD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194560" y="4489704"/>
            <a:ext cx="65836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852928" y="4489704"/>
            <a:ext cx="6016752" cy="493776"/>
          </a:xfrm>
          <a:prstGeom prst="rect">
            <a:avLst/>
          </a:prstGeom>
          <a:solidFill>
            <a:srgbClr val="EAF4FB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944368" y="4526280"/>
            <a:ext cx="5760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aggregate demand label. Lets the system say 'High demand load detected in Zone B.'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Overview – End-to-End Query Flow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1874520" cy="749808"/>
          </a:xfrm>
          <a:prstGeom prst="roundRect">
            <a:avLst>
              <a:gd name="adj" fmla="val 9756"/>
            </a:avLst>
          </a:prstGeom>
          <a:solidFill>
            <a:srgbClr val="065A82"/>
          </a:solidFill>
          <a:ln w="12700">
            <a:solidFill>
              <a:srgbClr val="29ABE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804672"/>
            <a:ext cx="18745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148840" y="1179576"/>
            <a:ext cx="320040" cy="0"/>
          </a:xfrm>
          <a:prstGeom prst="line">
            <a:avLst/>
          </a:prstGeom>
          <a:noFill/>
          <a:ln w="3175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468880" y="804672"/>
            <a:ext cx="1874520" cy="749808"/>
          </a:xfrm>
          <a:prstGeom prst="roundRect">
            <a:avLst>
              <a:gd name="adj" fmla="val 9756"/>
            </a:avLst>
          </a:prstGeom>
          <a:solidFill>
            <a:srgbClr val="1C7293"/>
          </a:solidFill>
          <a:ln w="12700">
            <a:solidFill>
              <a:srgbClr val="29ABE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68880" y="804672"/>
            <a:ext cx="18745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179576"/>
            <a:ext cx="320040" cy="0"/>
          </a:xfrm>
          <a:prstGeom prst="line">
            <a:avLst/>
          </a:prstGeom>
          <a:noFill/>
          <a:ln w="3175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663440" y="804672"/>
            <a:ext cx="1874520" cy="749808"/>
          </a:xfrm>
          <a:prstGeom prst="roundRect">
            <a:avLst>
              <a:gd name="adj" fmla="val 9756"/>
            </a:avLst>
          </a:prstGeom>
          <a:solidFill>
            <a:srgbClr val="1A5276"/>
          </a:solidFill>
          <a:ln w="12700">
            <a:solidFill>
              <a:srgbClr val="29ABE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63440" y="804672"/>
            <a:ext cx="18745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537960" y="1179576"/>
            <a:ext cx="320040" cy="0"/>
          </a:xfrm>
          <a:prstGeom prst="line">
            <a:avLst/>
          </a:prstGeom>
          <a:noFill/>
          <a:ln w="3175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858000" y="804672"/>
            <a:ext cx="1874520" cy="749808"/>
          </a:xfrm>
          <a:prstGeom prst="roundRect">
            <a:avLst>
              <a:gd name="adj" fmla="val 9756"/>
            </a:avLst>
          </a:prstGeom>
          <a:solidFill>
            <a:srgbClr val="2E4A80"/>
          </a:solidFill>
          <a:ln w="12700">
            <a:solidFill>
              <a:srgbClr val="29ABE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58000" y="804672"/>
            <a:ext cx="18745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(LangGraph)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4320" y="1700784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decides which agents to run: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37160" y="201168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1C7293"/>
          </a:solidFill>
          <a:ln w="12700">
            <a:solidFill>
              <a:srgbClr val="29ABE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37160" y="2011680"/>
            <a:ext cx="1600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Agent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BM25+ChromaDB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929384" y="201168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0E6655"/>
          </a:solidFill>
          <a:ln w="12700">
            <a:solidFill>
              <a:srgbClr val="29ABE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1929384" y="2011680"/>
            <a:ext cx="1600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721608" y="201168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1A5276"/>
          </a:solidFill>
          <a:ln w="12700">
            <a:solidFill>
              <a:srgbClr val="29ABE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721608" y="2011680"/>
            <a:ext cx="1600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Iso.Forest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513832" y="201168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065A82"/>
          </a:solidFill>
          <a:ln w="12700">
            <a:solidFill>
              <a:srgbClr val="29ABE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513832" y="2011680"/>
            <a:ext cx="1600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llama-3.1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06056" y="201168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6B2A8A"/>
          </a:solidFill>
          <a:ln w="12700">
            <a:solidFill>
              <a:srgbClr val="29ABE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306056" y="2011680"/>
            <a:ext cx="1600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DeepEval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31520" y="3182112"/>
            <a:ext cx="2286000" cy="694944"/>
          </a:xfrm>
          <a:prstGeom prst="roundRect">
            <a:avLst>
              <a:gd name="adj" fmla="val 10526"/>
            </a:avLst>
          </a:prstGeom>
          <a:solidFill>
            <a:srgbClr val="6B2A8A"/>
          </a:solidFill>
          <a:ln w="12700">
            <a:solidFill>
              <a:srgbClr val="29ABE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31520" y="3182112"/>
            <a:ext cx="22860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17520" y="3529584"/>
            <a:ext cx="457200" cy="0"/>
          </a:xfrm>
          <a:prstGeom prst="line">
            <a:avLst/>
          </a:prstGeom>
          <a:noFill/>
          <a:ln w="3175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3474720" y="3182112"/>
            <a:ext cx="2286000" cy="694944"/>
          </a:xfrm>
          <a:prstGeom prst="roundRect">
            <a:avLst>
              <a:gd name="adj" fmla="val 10526"/>
            </a:avLst>
          </a:prstGeom>
          <a:solidFill>
            <a:srgbClr val="1A5276"/>
          </a:solidFill>
          <a:ln w="12700">
            <a:solidFill>
              <a:srgbClr val="29ABE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3474720" y="3182112"/>
            <a:ext cx="22860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Answer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760720" y="3529584"/>
            <a:ext cx="457200" cy="0"/>
          </a:xfrm>
          <a:prstGeom prst="line">
            <a:avLst/>
          </a:prstGeom>
          <a:noFill/>
          <a:ln w="3175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6217920" y="3182112"/>
            <a:ext cx="2286000" cy="694944"/>
          </a:xfrm>
          <a:prstGeom prst="roundRect">
            <a:avLst>
              <a:gd name="adj" fmla="val 10526"/>
            </a:avLst>
          </a:prstGeom>
          <a:solidFill>
            <a:srgbClr val="065A82"/>
          </a:solidFill>
          <a:ln w="12700">
            <a:solidFill>
              <a:srgbClr val="29ABE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217920" y="3182112"/>
            <a:ext cx="22860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Sees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74320" y="4005072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9A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DeepEval scores every answer 1–5. Only answers scoring 3+ are shown to operators.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74320" y="434340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are cached — identical questions return instantly, saving LLM cost.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Guardrails – 4 Safety Layers Before the AI Sees Anything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822960" cy="859536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777240"/>
            <a:ext cx="822960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97280" y="777240"/>
            <a:ext cx="2148840" cy="859536"/>
          </a:xfrm>
          <a:prstGeom prst="rect">
            <a:avLst/>
          </a:prstGeom>
          <a:solidFill>
            <a:srgbClr val="D4E8F5"/>
          </a:solidFill>
          <a:ln w="6350">
            <a:solidFill>
              <a:srgbClr val="B0CC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832104"/>
            <a:ext cx="2057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Check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777240"/>
            <a:ext cx="3310128" cy="859536"/>
          </a:xfrm>
          <a:prstGeom prst="rect">
            <a:avLst/>
          </a:prstGeom>
          <a:solidFill>
            <a:srgbClr val="EAF4FB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832104"/>
            <a:ext cx="312724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input valid text, within length limits, properly encoded?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556248" y="777240"/>
            <a:ext cx="2313432" cy="859536"/>
          </a:xfrm>
          <a:prstGeom prst="rect">
            <a:avLst/>
          </a:prstGeom>
          <a:solidFill>
            <a:srgbClr val="FEF3E2"/>
          </a:solidFill>
          <a:ln w="9525">
            <a:solidFill>
              <a:srgbClr val="F5A62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47688" y="832104"/>
            <a:ext cx="213055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D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Malformed input rejected instantly.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1801368"/>
            <a:ext cx="822960" cy="85953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1801368"/>
            <a:ext cx="822960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097280" y="1801368"/>
            <a:ext cx="2148840" cy="859536"/>
          </a:xfrm>
          <a:prstGeom prst="rect">
            <a:avLst/>
          </a:prstGeom>
          <a:solidFill>
            <a:srgbClr val="D4E8F5"/>
          </a:solidFill>
          <a:ln w="6350">
            <a:solidFill>
              <a:srgbClr val="B0CCD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" y="1856232"/>
            <a:ext cx="2057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Harmful Content Detection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46120" y="1801368"/>
            <a:ext cx="3310128" cy="859536"/>
          </a:xfrm>
          <a:prstGeom prst="rect">
            <a:avLst/>
          </a:prstGeom>
          <a:solidFill>
            <a:srgbClr val="FFFFFF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37560" y="1856232"/>
            <a:ext cx="312724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query contain violent, abusive, or exploitative language?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556248" y="1801368"/>
            <a:ext cx="2313432" cy="859536"/>
          </a:xfrm>
          <a:prstGeom prst="rect">
            <a:avLst/>
          </a:prstGeom>
          <a:solidFill>
            <a:srgbClr val="FEF3E2"/>
          </a:solidFill>
          <a:ln w="9525">
            <a:solidFill>
              <a:srgbClr val="F5A62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47688" y="1856232"/>
            <a:ext cx="213055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D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with a polite rejection message.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2825496"/>
            <a:ext cx="822960" cy="859536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2825496"/>
            <a:ext cx="822960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097280" y="2825496"/>
            <a:ext cx="2148840" cy="859536"/>
          </a:xfrm>
          <a:prstGeom prst="rect">
            <a:avLst/>
          </a:prstGeom>
          <a:solidFill>
            <a:srgbClr val="D4E8F5"/>
          </a:solidFill>
          <a:ln w="6350">
            <a:solidFill>
              <a:srgbClr val="B0CCD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43000" y="2880360"/>
            <a:ext cx="2057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Relevance Check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46120" y="2825496"/>
            <a:ext cx="3310128" cy="859536"/>
          </a:xfrm>
          <a:prstGeom prst="rect">
            <a:avLst/>
          </a:prstGeom>
          <a:solidFill>
            <a:srgbClr val="EAF4FB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37560" y="2880360"/>
            <a:ext cx="312724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question about grids, energy, or power systems?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556248" y="2825496"/>
            <a:ext cx="2313432" cy="859536"/>
          </a:xfrm>
          <a:prstGeom prst="rect">
            <a:avLst/>
          </a:prstGeom>
          <a:solidFill>
            <a:srgbClr val="FEF3E2"/>
          </a:solidFill>
          <a:ln w="9525">
            <a:solidFill>
              <a:srgbClr val="F5A62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47688" y="2880360"/>
            <a:ext cx="213055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D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Off-topic queries (e.g., 'Tell me a joke') are rejected.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3849624"/>
            <a:ext cx="822960" cy="859536"/>
          </a:xfrm>
          <a:prstGeom prst="rect">
            <a:avLst/>
          </a:prstGeom>
          <a:solidFill>
            <a:srgbClr val="6B2A8A"/>
          </a:solidFill>
          <a:ln w="12700">
            <a:solidFill>
              <a:srgbClr val="6B2A8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3849624"/>
            <a:ext cx="822960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097280" y="3849624"/>
            <a:ext cx="2148840" cy="859536"/>
          </a:xfrm>
          <a:prstGeom prst="rect">
            <a:avLst/>
          </a:prstGeom>
          <a:solidFill>
            <a:srgbClr val="D4E8F5"/>
          </a:solidFill>
          <a:ln w="6350">
            <a:solidFill>
              <a:srgbClr val="B0CCD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43000" y="3904488"/>
            <a:ext cx="2057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(Presidio + Regex)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246120" y="3849624"/>
            <a:ext cx="3310128" cy="859536"/>
          </a:xfrm>
          <a:prstGeom prst="rect">
            <a:avLst/>
          </a:prstGeom>
          <a:solidFill>
            <a:srgbClr val="FFFFFF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37560" y="3904488"/>
            <a:ext cx="312724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 phone numbers, GPS coords, employee IDs, or personal identifiers?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556248" y="3849624"/>
            <a:ext cx="2313432" cy="859536"/>
          </a:xfrm>
          <a:prstGeom prst="rect">
            <a:avLst/>
          </a:prstGeom>
          <a:solidFill>
            <a:srgbClr val="FEF3E2"/>
          </a:solidFill>
          <a:ln w="9525">
            <a:solidFill>
              <a:srgbClr val="F5A62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47688" y="3904488"/>
            <a:ext cx="213055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D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identifiers replaced with [MASKED] before reaching the LLM.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274320" y="4873752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queries that pass ALL 4 layers reach the AI pipeline.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Pipeline – Hybrid BM25 + ChromaDB Retrieval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274320" y="749808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= Retrieval-Augmented Generation. The AI reads relevant incident records before writing an answer — it does not guess.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207008"/>
            <a:ext cx="3840480" cy="26974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131673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– Keyword Search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1480" y="1719072"/>
            <a:ext cx="3566160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exact keyword matches fast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 or GPU needed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for: Zone_A, INC-042, transformer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Misses conceptually similar terms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0" y="1207008"/>
            <a:ext cx="3840480" cy="2697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166360" y="131673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– Semantic Search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166360" y="1719072"/>
            <a:ext cx="3566160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8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conceptually similar incidents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8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all-MiniLM-L6-v2 embeddings (384-dim)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8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even when exact words differ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8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Local, persistent, no external API needed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60520" y="2103120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274320" y="4005072"/>
            <a:ext cx="8595360" cy="59436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400507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Hybrid retrieval catches BOTH exact matches AND conceptually related incidents — better than either method alone.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XGBoost for Stability Classification?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28600" y="749808"/>
            <a:ext cx="1828800" cy="53035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5176" y="749808"/>
            <a:ext cx="175564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057400" y="749808"/>
            <a:ext cx="1645920" cy="53035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93976" y="749808"/>
            <a:ext cx="157276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Imbalance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(63.8% unstable)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703320" y="749808"/>
            <a:ext cx="1645920" cy="53035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39896" y="749808"/>
            <a:ext cx="157276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(SHAP)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349240" y="749808"/>
            <a:ext cx="914400" cy="53035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85816" y="749808"/>
            <a:ext cx="84124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63640" y="749808"/>
            <a:ext cx="1325880" cy="53035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0216" y="749808"/>
            <a:ext cx="1252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Non-linear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589520" y="749808"/>
            <a:ext cx="1508760" cy="53035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26096" y="749808"/>
            <a:ext cx="143560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28600" y="1280160"/>
            <a:ext cx="1828800" cy="768096"/>
          </a:xfrm>
          <a:prstGeom prst="rect">
            <a:avLst/>
          </a:prstGeom>
          <a:solidFill>
            <a:srgbClr val="D4EFD4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1325880"/>
            <a:ext cx="17373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057400" y="1280160"/>
            <a:ext cx="1645920" cy="768096"/>
          </a:xfrm>
          <a:prstGeom prst="rect">
            <a:avLst/>
          </a:prstGeom>
          <a:solidFill>
            <a:srgbClr val="D4EFD4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03120" y="1325880"/>
            <a:ext cx="15544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– built-in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703320" y="1280160"/>
            <a:ext cx="1645920" cy="768096"/>
          </a:xfrm>
          <a:prstGeom prst="rect">
            <a:avLst/>
          </a:prstGeom>
          <a:solidFill>
            <a:srgbClr val="D4EFD4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49040" y="1325880"/>
            <a:ext cx="15544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SHAP values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349240" y="1280160"/>
            <a:ext cx="914400" cy="768096"/>
          </a:xfrm>
          <a:prstGeom prst="rect">
            <a:avLst/>
          </a:prstGeom>
          <a:solidFill>
            <a:srgbClr val="D4EFD4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94960" y="1325880"/>
            <a:ext cx="8229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63640" y="1280160"/>
            <a:ext cx="1325880" cy="768096"/>
          </a:xfrm>
          <a:prstGeom prst="rect">
            <a:avLst/>
          </a:prstGeom>
          <a:solidFill>
            <a:srgbClr val="D4EFD4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0" y="1325880"/>
            <a:ext cx="1234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589520" y="1280160"/>
            <a:ext cx="1508760" cy="768096"/>
          </a:xfrm>
          <a:prstGeom prst="rect">
            <a:avLst/>
          </a:prstGeom>
          <a:solidFill>
            <a:srgbClr val="D4EFD4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35240" y="1325880"/>
            <a:ext cx="14173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28600" y="2103120"/>
            <a:ext cx="1828800" cy="768096"/>
          </a:xfrm>
          <a:prstGeom prst="rect">
            <a:avLst/>
          </a:prstGeom>
          <a:solidFill>
            <a:srgbClr val="FFFFFF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2148840"/>
            <a:ext cx="17373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057400" y="2103120"/>
            <a:ext cx="1645920" cy="768096"/>
          </a:xfrm>
          <a:prstGeom prst="rect">
            <a:avLst/>
          </a:prstGeom>
          <a:solidFill>
            <a:srgbClr val="FFFFFF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03120" y="2148840"/>
            <a:ext cx="15544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tuning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703320" y="2103120"/>
            <a:ext cx="1645920" cy="768096"/>
          </a:xfrm>
          <a:prstGeom prst="rect">
            <a:avLst/>
          </a:prstGeom>
          <a:solidFill>
            <a:srgbClr val="FFFFFF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49040" y="2148840"/>
            <a:ext cx="15544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Coefficients only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349240" y="2103120"/>
            <a:ext cx="914400" cy="768096"/>
          </a:xfrm>
          <a:prstGeom prst="rect">
            <a:avLst/>
          </a:prstGeom>
          <a:solidFill>
            <a:srgbClr val="FFFFFF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4960" y="2148840"/>
            <a:ext cx="8229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263640" y="2103120"/>
            <a:ext cx="1325880" cy="768096"/>
          </a:xfrm>
          <a:prstGeom prst="rect">
            <a:avLst/>
          </a:prstGeom>
          <a:solidFill>
            <a:srgbClr val="FFFFFF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09360" y="2148840"/>
            <a:ext cx="1234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589520" y="2103120"/>
            <a:ext cx="1508760" cy="768096"/>
          </a:xfrm>
          <a:prstGeom prst="rect">
            <a:avLst/>
          </a:prstGeom>
          <a:solidFill>
            <a:srgbClr val="FFFFFF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635240" y="2148840"/>
            <a:ext cx="14173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simple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28600" y="2926080"/>
            <a:ext cx="1828800" cy="768096"/>
          </a:xfrm>
          <a:prstGeom prst="rect">
            <a:avLst/>
          </a:prstGeom>
          <a:solidFill>
            <a:srgbClr val="EAF4FB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4320" y="2971800"/>
            <a:ext cx="17373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2057400" y="2926080"/>
            <a:ext cx="1645920" cy="768096"/>
          </a:xfrm>
          <a:prstGeom prst="rect">
            <a:avLst/>
          </a:prstGeom>
          <a:solidFill>
            <a:srgbClr val="EAF4FB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03120" y="2971800"/>
            <a:ext cx="15544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more data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703320" y="2926080"/>
            <a:ext cx="1645920" cy="768096"/>
          </a:xfrm>
          <a:prstGeom prst="rect">
            <a:avLst/>
          </a:prstGeom>
          <a:solidFill>
            <a:srgbClr val="EAF4FB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749040" y="2971800"/>
            <a:ext cx="15544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box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349240" y="2926080"/>
            <a:ext cx="914400" cy="768096"/>
          </a:xfrm>
          <a:prstGeom prst="rect">
            <a:avLst/>
          </a:prstGeom>
          <a:solidFill>
            <a:srgbClr val="EAF4FB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94960" y="2971800"/>
            <a:ext cx="8229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263640" y="2926080"/>
            <a:ext cx="1325880" cy="768096"/>
          </a:xfrm>
          <a:prstGeom prst="rect">
            <a:avLst/>
          </a:prstGeom>
          <a:solidFill>
            <a:srgbClr val="EAF4FB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9360" y="2971800"/>
            <a:ext cx="1234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589520" y="2926080"/>
            <a:ext cx="1508760" cy="768096"/>
          </a:xfrm>
          <a:prstGeom prst="rect">
            <a:avLst/>
          </a:prstGeom>
          <a:solidFill>
            <a:srgbClr val="EAF4FB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35240" y="2971800"/>
            <a:ext cx="14173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explainable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228600" y="3749040"/>
            <a:ext cx="1828800" cy="768096"/>
          </a:xfrm>
          <a:prstGeom prst="rect">
            <a:avLst/>
          </a:prstGeom>
          <a:solidFill>
            <a:srgbClr val="FFFFFF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74320" y="3794760"/>
            <a:ext cx="17373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2057400" y="3749040"/>
            <a:ext cx="1645920" cy="768096"/>
          </a:xfrm>
          <a:prstGeom prst="rect">
            <a:avLst/>
          </a:prstGeom>
          <a:solidFill>
            <a:srgbClr val="FFFFFF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103120" y="3794760"/>
            <a:ext cx="15544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3703320" y="3749040"/>
            <a:ext cx="1645920" cy="768096"/>
          </a:xfrm>
          <a:prstGeom prst="rect">
            <a:avLst/>
          </a:prstGeom>
          <a:solidFill>
            <a:srgbClr val="FFFFFF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749040" y="3794760"/>
            <a:ext cx="15544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5349240" y="3749040"/>
            <a:ext cx="914400" cy="768096"/>
          </a:xfrm>
          <a:prstGeom prst="rect">
            <a:avLst/>
          </a:prstGeom>
          <a:solidFill>
            <a:srgbClr val="FFFFFF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394960" y="3794760"/>
            <a:ext cx="8229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6263640" y="3749040"/>
            <a:ext cx="1325880" cy="768096"/>
          </a:xfrm>
          <a:prstGeom prst="rect">
            <a:avLst/>
          </a:prstGeom>
          <a:solidFill>
            <a:srgbClr val="FFFFFF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309360" y="3794760"/>
            <a:ext cx="1234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7589520" y="3749040"/>
            <a:ext cx="1508760" cy="768096"/>
          </a:xfrm>
          <a:prstGeom prst="rect">
            <a:avLst/>
          </a:prstGeom>
          <a:solidFill>
            <a:srgbClr val="FFFFFF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635240" y="3794760"/>
            <a:ext cx="14173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Slower, no prob.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228600" y="4617720"/>
            <a:ext cx="8686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values show operators exactly WHICH feature caused the instability prediction — e.g., 'tau3 too low in Zone B'.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Isolation Forest for Anomaly Detection in DS2?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274320" y="749808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meter data has NO pre-labelled anomalies. We need an unsupervised approach that works at 2 million-row scale.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188720"/>
            <a:ext cx="228600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188720"/>
            <a:ext cx="8366760" cy="822960"/>
          </a:xfrm>
          <a:prstGeom prst="rect">
            <a:avLst/>
          </a:prstGeom>
          <a:solidFill>
            <a:srgbClr val="EAF4FB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234440"/>
            <a:ext cx="8092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Unsupervised – No Labels Needed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536192"/>
            <a:ext cx="8092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not know in advance which readings are anomalous. Isolation Forest finds outliers without any labelled examples — perfect for real-world smart meter data.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2148840"/>
            <a:ext cx="228600" cy="8229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148840"/>
            <a:ext cx="8366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194560"/>
            <a:ext cx="8092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to 2 Million Rows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496312"/>
            <a:ext cx="8092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and DBSCAN slow dramatically at this scale. Isolation Forest uses random trees and runs efficiently on very large datasets.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3108960"/>
            <a:ext cx="228600" cy="82296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3108960"/>
            <a:ext cx="8366760" cy="822960"/>
          </a:xfrm>
          <a:prstGeom prst="rect">
            <a:avLst/>
          </a:prstGeom>
          <a:solidFill>
            <a:srgbClr val="EAF4FB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154680"/>
            <a:ext cx="8092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Score Per Row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456432"/>
            <a:ext cx="8092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clustering methods, Isolation Forest gives each row a score from -1 to 1. Operators can set their own threshold — not just a cluster label.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74320" y="4069080"/>
            <a:ext cx="228600" cy="822960"/>
          </a:xfrm>
          <a:prstGeom prst="rect">
            <a:avLst/>
          </a:prstGeom>
          <a:solidFill>
            <a:srgbClr val="0E6655"/>
          </a:solidFill>
          <a:ln w="12700">
            <a:solidFill>
              <a:srgbClr val="0E66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2920" y="4069080"/>
            <a:ext cx="8366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114800"/>
            <a:ext cx="8092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 Output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4416552"/>
            <a:ext cx="8092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scoring below -0.1 are flagged as anomalies. Easy to explain: 'This reading scored -0.35 — statistically very unusual for this meter.'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Hybrid RAG – Not Just One Search Method?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8595360" cy="1261872"/>
          </a:xfrm>
          <a:prstGeom prst="rect">
            <a:avLst/>
          </a:prstGeom>
          <a:solidFill>
            <a:srgbClr val="1A3A5C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32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9A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A: "Show incidents in Zone_A"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1124712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BM25: BM25 finds "Zone_A" instantly — exact keyword match.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11480" y="137160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8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ChromaDB: ChromaDB also returns Zone_A records but adds context from similar zone events.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11480" y="1636776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BM25 leads, semantic adds depth.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4320" y="2167128"/>
            <a:ext cx="8595360" cy="1261872"/>
          </a:xfrm>
          <a:prstGeom prst="rect">
            <a:avLst/>
          </a:prstGeom>
          <a:solidFill>
            <a:srgbClr val="1A3A5C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22219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9A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B: "What caused the northern sector overload?"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251460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BM25: BM25 finds nothing — "northern sector" is not in the indexed text.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11480" y="2761488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8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ChromaDB: ChromaDB finds Zone_B/C overload records because the meaning matches.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11480" y="3026664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Semantic wins — BM25 alone would return nothing.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74320" y="3557016"/>
            <a:ext cx="8595360" cy="1261872"/>
          </a:xfrm>
          <a:prstGeom prst="rect">
            <a:avLst/>
          </a:prstGeom>
          <a:solidFill>
            <a:srgbClr val="1A3A5C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3611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9A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C: "INC-042 transformer fault details"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3904488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BM25: BM25 finds INC-042 exactly — incident ID match.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11480" y="4151376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8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ChromaDB: ChromaDB adds related transformer fault incidents from the same time period.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11480" y="4416552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Both contribute — neither alone gives the complete answer.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74320" y="4892040"/>
            <a:ext cx="85953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9A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RAG consistently outperforms either method alone across all real query types.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Pipeline – LangGraph Orchestration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274320" y="74980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routes each query to the right combination of agents — not every question needs all of them.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170432"/>
            <a:ext cx="1627632" cy="676656"/>
          </a:xfrm>
          <a:prstGeom prst="roundRect">
            <a:avLst>
              <a:gd name="adj" fmla="val 10811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170432"/>
            <a:ext cx="162763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901952" y="1261872"/>
            <a:ext cx="6967728" cy="502920"/>
          </a:xfrm>
          <a:prstGeom prst="rect">
            <a:avLst/>
          </a:prstGeom>
          <a:solidFill>
            <a:srgbClr val="EAF4FB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93392" y="1261872"/>
            <a:ext cx="6784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Classifies query type and decides which agents to activate for this specific question.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74320" y="1847088"/>
            <a:ext cx="1627632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8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1975104"/>
            <a:ext cx="1627632" cy="676656"/>
          </a:xfrm>
          <a:prstGeom prst="roundRect">
            <a:avLst>
              <a:gd name="adj" fmla="val 10811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74320" y="1975104"/>
            <a:ext cx="162763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901952" y="2066544"/>
            <a:ext cx="6967728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93392" y="2066544"/>
            <a:ext cx="6784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Retrieves relevant incidents and grid records using BM25 + ChromaDB hybrid search.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74320" y="2651760"/>
            <a:ext cx="1627632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8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779776"/>
            <a:ext cx="1627632" cy="676656"/>
          </a:xfrm>
          <a:prstGeom prst="roundRect">
            <a:avLst>
              <a:gd name="adj" fmla="val 10811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74320" y="2779776"/>
            <a:ext cx="162763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01952" y="2871216"/>
            <a:ext cx="6967728" cy="502920"/>
          </a:xfrm>
          <a:prstGeom prst="rect">
            <a:avLst/>
          </a:prstGeom>
          <a:solidFill>
            <a:srgbClr val="EAF4FB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993392" y="2871216"/>
            <a:ext cx="6784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XGBoost model on current grid readings. Returns a stability score plus top contributing features.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274320" y="3456432"/>
            <a:ext cx="1627632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8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584448"/>
            <a:ext cx="1627632" cy="676656"/>
          </a:xfrm>
          <a:prstGeom prst="roundRect">
            <a:avLst>
              <a:gd name="adj" fmla="val 10811"/>
            </a:avLst>
          </a:prstGeom>
          <a:solidFill>
            <a:srgbClr val="0E6655"/>
          </a:solidFill>
          <a:ln w="12700">
            <a:solidFill>
              <a:srgbClr val="0E66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74320" y="3584448"/>
            <a:ext cx="162763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901952" y="3675888"/>
            <a:ext cx="6967728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93392" y="3675888"/>
            <a:ext cx="6784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Isolation Forest on recent meter data. Flags readings that are statistically unusual.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274320" y="4261104"/>
            <a:ext cx="1627632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8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" y="4389120"/>
            <a:ext cx="1627632" cy="676656"/>
          </a:xfrm>
          <a:prstGeom prst="roundRect">
            <a:avLst>
              <a:gd name="adj" fmla="val 10811"/>
            </a:avLst>
          </a:prstGeom>
          <a:solidFill>
            <a:srgbClr val="6B2A8A"/>
          </a:solidFill>
          <a:ln w="12700">
            <a:solidFill>
              <a:srgbClr val="6B2A8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74320" y="4389120"/>
            <a:ext cx="162763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901952" y="4480560"/>
            <a:ext cx="6967728" cy="502920"/>
          </a:xfrm>
          <a:prstGeom prst="rect">
            <a:avLst/>
          </a:prstGeom>
          <a:solidFill>
            <a:srgbClr val="EAF4FB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993392" y="4480560"/>
            <a:ext cx="6784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Passes all retrieved data to Groq LLM. Writes a clear, plain-English answer grounded in evidence.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274320" y="5102352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LangGraph not LangChain agents: explicit state management, conditional routing, predictable and fully debuggable.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DeepEval Quality Gates – No Hallucinations Reach the User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274320" y="749808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can confidently state wrong things. DeepEval acts as an automated quality inspector on every single answer.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207008"/>
            <a:ext cx="2194560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" y="1207008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 Check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68880" y="1207008"/>
            <a:ext cx="6382512" cy="822960"/>
          </a:xfrm>
          <a:prstGeom prst="rect">
            <a:avLst/>
          </a:prstGeom>
          <a:solidFill>
            <a:srgbClr val="EAF4FB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06040" y="1280160"/>
            <a:ext cx="610819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LLM answer actually use the retrieved incident data? If the answer contradicts or ignores retrieved facts, it fails this check.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4320" y="2167128"/>
            <a:ext cx="2194560" cy="8229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0040" y="2167128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Scoring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468880" y="2167128"/>
            <a:ext cx="6382512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06040" y="2240280"/>
            <a:ext cx="610819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LLM reads the answer and scores it 1 to 5 on accuracy, helpfulness, and domain relevance to power grid operations.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74320" y="3127248"/>
            <a:ext cx="2194560" cy="822960"/>
          </a:xfrm>
          <a:prstGeom prst="rect">
            <a:avLst/>
          </a:prstGeom>
          <a:solidFill>
            <a:srgbClr val="0E6655"/>
          </a:solidFill>
          <a:ln w="12700">
            <a:solidFill>
              <a:srgbClr val="0E66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20040" y="3127248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Threshold Gate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468880" y="3127248"/>
            <a:ext cx="6382512" cy="822960"/>
          </a:xfrm>
          <a:prstGeom prst="rect">
            <a:avLst/>
          </a:prstGeom>
          <a:solidFill>
            <a:srgbClr val="EAF4FB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06040" y="3200400"/>
            <a:ext cx="610819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answers scoring 3 or higher are shown to operators. Answers below 3 are blocked — the operator is asked to rephrase their question.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274320" y="4087368"/>
            <a:ext cx="2194560" cy="822960"/>
          </a:xfrm>
          <a:prstGeom prst="rect">
            <a:avLst/>
          </a:prstGeom>
          <a:solidFill>
            <a:srgbClr val="6B2A8A"/>
          </a:solidFill>
          <a:ln w="12700">
            <a:solidFill>
              <a:srgbClr val="6B2A8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20040" y="4087368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Guardrails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468880" y="4087368"/>
            <a:ext cx="6382512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06040" y="4160520"/>
            <a:ext cx="610819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quality check, output is scanned for any private data, harmful content, or unsafe operational recommendations that slipped through.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74320" y="507492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Grid operators can trust every answer — it is evidence-based, scored, and safety-screened before display.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Operations Dashboard – 12 Widgets, 30-Second Refresh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28600" y="77724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1A3A5C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38328" y="841248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9A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Health Score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38328" y="1161288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0-100 overall stability score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200400" y="77724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1A3A5C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10128" y="841248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9A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Stability Map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10128" y="1161288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Zones A/B/C/D colour-coded: green/amber/red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72200" y="77724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1A3A5C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81928" y="841248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9A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Incidents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281928" y="1161288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and severity of open incidents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856232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1A3A5C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38328" y="192024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9A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Anomalies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8328" y="2240280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10 unusual meter readings flagged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0" y="1856232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1A3A5C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310128" y="192024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9A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Confidence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310128" y="2240280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Model's certainty in its current prediction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72200" y="1856232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1A3A5C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281928" y="192024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9A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Deviation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81928" y="2240280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grid frequency vs. 50Hz baseline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28600" y="2935224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1A3A5C"/>
          </a:solidFill>
          <a:ln w="1905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38328" y="299923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9A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SHAP Features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38328" y="3319272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features are driving instability now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0" y="2935224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1A3A5C"/>
          </a:solidFill>
          <a:ln w="1905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310128" y="299923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9A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Heatmap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310128" y="3319272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Zone-level power consumption heat map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72200" y="2935224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1A3A5C"/>
          </a:solidFill>
          <a:ln w="1905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281928" y="299923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9A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Status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281928" y="3319272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Online/degraded/offline status per zone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228600" y="4014216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1A3A5C"/>
          </a:solidFill>
          <a:ln w="19050">
            <a:solidFill>
              <a:srgbClr val="0E66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38328" y="407822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9A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 Panel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38328" y="4398264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any question, get answers in under 3 sec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200400" y="4014216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1A3A5C"/>
          </a:solidFill>
          <a:ln w="19050">
            <a:solidFill>
              <a:srgbClr val="0E66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3310128" y="407822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9A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Feed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310128" y="4398264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Chronological list of screened alerts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172200" y="4014216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1A3A5C"/>
          </a:solidFill>
          <a:ln w="19050">
            <a:solidFill>
              <a:srgbClr val="0E66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281928" y="407822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9A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Outage Timeline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281928" y="4398264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outage events with duration and zone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Accuracy – What SGEIA Delivers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4206240" cy="126187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850392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~96%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11480" y="1417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Accuracy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70992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Stability classification on DS1 test set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09160" y="777240"/>
            <a:ext cx="4206240" cy="126187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46320" y="850392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846320" y="1417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46320" y="170992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Unusual meter readings identified in DS2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194560"/>
            <a:ext cx="4206240" cy="126187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11480" y="2267712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 sec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11480" y="28346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Response Time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312724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End-to-end: question to grounded answer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2194560"/>
            <a:ext cx="4206240" cy="126187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46320" y="2267712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4846320" y="28346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Hit Speedup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46320" y="312724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questions answered from cache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611880"/>
            <a:ext cx="4206240" cy="126187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11480" y="3685032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/ 5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411480" y="425196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DeepEval Quality Score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11480" y="454456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responses passing guardrails are rated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09160" y="3611880"/>
            <a:ext cx="4206240" cy="126187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846320" y="3685032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Q&amp;A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4846320" y="425196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46320" y="454456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status, root cause, anomaly, trends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 – What Changes for Grid Operators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749808"/>
            <a:ext cx="4069080" cy="3840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749808"/>
            <a:ext cx="4069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SGEIA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00600" y="749808"/>
            <a:ext cx="4069080" cy="384048"/>
          </a:xfrm>
          <a:prstGeom prst="rect">
            <a:avLst/>
          </a:prstGeom>
          <a:solidFill>
            <a:srgbClr val="0E8A4A"/>
          </a:solidFill>
          <a:ln w="12700">
            <a:solidFill>
              <a:srgbClr val="0E8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0" y="749808"/>
            <a:ext cx="4069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SGEIA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4320" y="1207008"/>
            <a:ext cx="4069080" cy="621792"/>
          </a:xfrm>
          <a:prstGeom prst="rect">
            <a:avLst/>
          </a:prstGeom>
          <a:solidFill>
            <a:srgbClr val="FAE5E5"/>
          </a:solidFill>
          <a:ln w="6350">
            <a:solidFill>
              <a:srgbClr val="E0B0B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261872"/>
            <a:ext cx="3886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 checking 5-6 tools for one alert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343400" y="1316736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800600" y="1207008"/>
            <a:ext cx="4069080" cy="621792"/>
          </a:xfrm>
          <a:prstGeom prst="rect">
            <a:avLst/>
          </a:prstGeom>
          <a:solidFill>
            <a:srgbClr val="E5F5EC"/>
          </a:solidFill>
          <a:ln w="6350">
            <a:solidFill>
              <a:srgbClr val="A0D4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1261872"/>
            <a:ext cx="3886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4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AI question gets the full picture instantly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74320" y="1938528"/>
            <a:ext cx="4069080" cy="621792"/>
          </a:xfrm>
          <a:prstGeom prst="rect">
            <a:avLst/>
          </a:prstGeom>
          <a:solidFill>
            <a:srgbClr val="FAE5E5"/>
          </a:solidFill>
          <a:ln w="6350">
            <a:solidFill>
              <a:srgbClr val="E0B0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993392"/>
            <a:ext cx="3886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 hours to diagnose a grid fault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343400" y="2048256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800600" y="1938528"/>
            <a:ext cx="4069080" cy="621792"/>
          </a:xfrm>
          <a:prstGeom prst="rect">
            <a:avLst/>
          </a:prstGeom>
          <a:solidFill>
            <a:srgbClr val="E5F5EC"/>
          </a:solidFill>
          <a:ln w="6350">
            <a:solidFill>
              <a:srgbClr val="A0D4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92040" y="1993392"/>
            <a:ext cx="3886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4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3 seconds for an evidence-based answer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74320" y="2670048"/>
            <a:ext cx="4069080" cy="621792"/>
          </a:xfrm>
          <a:prstGeom prst="rect">
            <a:avLst/>
          </a:prstGeom>
          <a:solidFill>
            <a:srgbClr val="FAE5E5"/>
          </a:solidFill>
          <a:ln w="6350">
            <a:solidFill>
              <a:srgbClr val="E0B0B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724912"/>
            <a:ext cx="3886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senior engineers read raw stability data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343400" y="2779776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800600" y="2670048"/>
            <a:ext cx="4069080" cy="621792"/>
          </a:xfrm>
          <a:prstGeom prst="rect">
            <a:avLst/>
          </a:prstGeom>
          <a:solidFill>
            <a:srgbClr val="E5F5EC"/>
          </a:solidFill>
          <a:ln w="6350">
            <a:solidFill>
              <a:srgbClr val="A0D4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2724912"/>
            <a:ext cx="3886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4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operator can ask — no deep expertise needed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274320" y="3401568"/>
            <a:ext cx="4069080" cy="621792"/>
          </a:xfrm>
          <a:prstGeom prst="rect">
            <a:avLst/>
          </a:prstGeom>
          <a:solidFill>
            <a:srgbClr val="FAE5E5"/>
          </a:solidFill>
          <a:ln w="6350">
            <a:solidFill>
              <a:srgbClr val="E0B0B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456432"/>
            <a:ext cx="3886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and demand data always disconnected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343400" y="3511296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4800600" y="3401568"/>
            <a:ext cx="4069080" cy="621792"/>
          </a:xfrm>
          <a:prstGeom prst="rect">
            <a:avLst/>
          </a:prstGeom>
          <a:solidFill>
            <a:srgbClr val="E5F5EC"/>
          </a:solidFill>
          <a:ln w="6350">
            <a:solidFill>
              <a:srgbClr val="A0D4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92040" y="3456432"/>
            <a:ext cx="3886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4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datasets combined in every response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74320" y="4133088"/>
            <a:ext cx="4069080" cy="621792"/>
          </a:xfrm>
          <a:prstGeom prst="rect">
            <a:avLst/>
          </a:prstGeom>
          <a:solidFill>
            <a:srgbClr val="FAE5E5"/>
          </a:solidFill>
          <a:ln w="6350">
            <a:solidFill>
              <a:srgbClr val="E0B0B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187952"/>
            <a:ext cx="3886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Junior operators at risk of guessing wrong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343400" y="4242816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4800600" y="4133088"/>
            <a:ext cx="4069080" cy="621792"/>
          </a:xfrm>
          <a:prstGeom prst="rect">
            <a:avLst/>
          </a:prstGeom>
          <a:solidFill>
            <a:srgbClr val="E5F5EC"/>
          </a:solidFill>
          <a:ln w="6350">
            <a:solidFill>
              <a:srgbClr val="A0D4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92040" y="4187952"/>
            <a:ext cx="3886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4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DeepEval + guardrails ensure trusted answers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Roadmap – Where SGEIA Goes Next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1371600" cy="12801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877824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4320" y="1243584"/>
            <a:ext cx="1371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SCADA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645920" y="804672"/>
            <a:ext cx="7223760" cy="1280160"/>
          </a:xfrm>
          <a:prstGeom prst="rect">
            <a:avLst/>
          </a:prstGeom>
          <a:solidFill>
            <a:srgbClr val="EAF4FB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83080" y="914400"/>
            <a:ext cx="6903720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to real-time SCADA — live grid sensor feeds instead of historical data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Sub-second anomaly detection on streaming meter data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incident creation when thresholds are breached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4320" y="2249424"/>
            <a:ext cx="1371600" cy="12801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74320" y="2322576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74320" y="2688336"/>
            <a:ext cx="1371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645920" y="2249424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783080" y="2359152"/>
            <a:ext cx="6903720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forecasts instability 15–30 minutes before it occurs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receive proactive warnings, not reactive alerts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ranking: which zones need attention first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74320" y="3694176"/>
            <a:ext cx="1371600" cy="1280160"/>
          </a:xfrm>
          <a:prstGeom prst="rect">
            <a:avLst/>
          </a:prstGeom>
          <a:solidFill>
            <a:srgbClr val="6B2A8A"/>
          </a:solidFill>
          <a:ln w="12700">
            <a:solidFill>
              <a:srgbClr val="6B2A8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74320" y="3767328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74320" y="4133088"/>
            <a:ext cx="1371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&amp;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App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645920" y="3694176"/>
            <a:ext cx="7223760" cy="1280160"/>
          </a:xfrm>
          <a:prstGeom prst="rect">
            <a:avLst/>
          </a:prstGeom>
          <a:solidFill>
            <a:srgbClr val="EAF4FB"/>
          </a:solidFill>
          <a:ln w="6350">
            <a:solidFill>
              <a:srgbClr val="C5DD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783080" y="3803904"/>
            <a:ext cx="6903720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engineers access SGEIA on mobile — ask questions from the substation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query support for hands-free operation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mode for low-connectivity field locations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274320" y="5138928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SGEIA is designed to grow from a capstone project into a production-grade grid intelligence platform.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737360"/>
            <a:ext cx="9144000" cy="54864"/>
          </a:xfrm>
          <a:prstGeom prst="rect">
            <a:avLst/>
          </a:prstGeom>
          <a:solidFill>
            <a:srgbClr val="29ABE2"/>
          </a:solidFill>
          <a:ln w="12700">
            <a:solidFill>
              <a:srgbClr val="29ABE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8046720" cy="11430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60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48640" y="1901952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9A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SGEIA – Smart Grid Energy Intelligence Assistant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487168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Tejeswari S K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Prodapt AFDE  |  May 2026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9A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tejeswari.sk@prodapt.com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7777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  •  Prodapt Advanced Full-Stack Data Engineering Capstone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SGEIA – Smart Grid Energy Intelligence Assistant</dc:title>
  <dc:subject>PptxGenJS Presentation</dc:subject>
  <dc:creator>Tejeswari S K</dc:creator>
  <cp:lastModifiedBy>Tejeswari S K</cp:lastModifiedBy>
  <cp:revision>1</cp:revision>
  <dcterms:created xsi:type="dcterms:W3CDTF">2026-06-01T06:23:35Z</dcterms:created>
  <dcterms:modified xsi:type="dcterms:W3CDTF">2026-06-01T06:23:35Z</dcterms:modified>
</cp:coreProperties>
</file>